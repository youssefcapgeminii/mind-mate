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914400" y="-914400"/>
            <a:ext cx="4572000" cy="4572000"/>
          </a:xfrm>
          <a:prstGeom prst="rect">
            <a:avLst/>
          </a:prstGeom>
          <a:solidFill>
            <a:srgbClr val="0D4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389120" y="1188720"/>
            <a:ext cx="2926080" cy="292608"/>
          </a:xfrm>
          <a:prstGeom prst="rect">
            <a:avLst/>
          </a:prstGeom>
          <a:solidFill>
            <a:srgbClr val="D9FDD3"/>
          </a:solidFill>
          <a:ln w="6350">
            <a:solidFill>
              <a:srgbClr val="00A8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a:spPr>
          <a:prstGeom prst="roundRect">
            <a:avLst>
              <a:gd name="adj" fmla="val 99999"/>
            </a:avLst>
          </a:prstGeom>
        </a:spPr>
      </p:sp>
      <p:sp>
        <p:nvSpPr>
          <p:cNvPr id="5" name="TextBox 4"/>
          <p:cNvSpPr txBox="1"/>
          <p:nvPr/>
        </p:nvSpPr>
        <p:spPr>
          <a:xfrm>
            <a:off x="4498848" y="1225296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A884"/>
                </a:solidFill>
                <a:latin typeface="Calibri"/>
              </a:rPr>
              <a:t>● LangGraph · LangChain · Agentic RAG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PsycheNavigator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63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1">
                <a:solidFill>
                  <a:srgbClr val="25D366"/>
                </a:solidFill>
                <a:latin typeface="Calibri"/>
              </a:rPr>
              <a:t>Technical Deep-Dive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794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EB58D"/>
                </a:solidFill>
                <a:latin typeface="Calibri"/>
              </a:rPr>
              <a:t>How the Agentic RAG pipeline works — nodes, vectors, embeddings &amp; retrieval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493776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5D366"/>
                </a:solidFill>
                <a:latin typeface="Calibri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54406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EB58D"/>
                </a:solidFill>
                <a:latin typeface="Calibri"/>
              </a:rPr>
              <a:t>Agent Nodes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493776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5D366"/>
                </a:solidFill>
                <a:latin typeface="Calibri"/>
              </a:rPr>
              <a:t>5,640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54406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EB58D"/>
                </a:solidFill>
                <a:latin typeface="Calibri"/>
              </a:rPr>
              <a:t>Book Chunks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493776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5D366"/>
                </a:solidFill>
                <a:latin typeface="Calibri"/>
              </a:rPr>
              <a:t>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54406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EB58D"/>
                </a:solidFill>
                <a:latin typeface="Calibri"/>
              </a:rPr>
              <a:t>Books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493776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5D366"/>
                </a:solidFill>
                <a:latin typeface="Calibri"/>
              </a:rPr>
              <a:t>384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54406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EB58D"/>
                </a:solidFill>
                <a:latin typeface="Calibri"/>
              </a:rPr>
              <a:t>Embedding Dims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80160" y="4846320"/>
            <a:ext cx="9601200" cy="12700"/>
          </a:xfrm>
          <a:prstGeom prst="rect">
            <a:avLst/>
          </a:prstGeom>
          <a:solidFill>
            <a:srgbClr val="1A3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A884"/>
                </a:solidFill>
                <a:latin typeface="Calibri"/>
              </a:rPr>
              <a:t>What is PsycheNavigator?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88952" cy="25400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972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67781"/>
                </a:solidFill>
                <a:latin typeface="Calibri"/>
              </a:rPr>
              <a:t>A psychology assistant that answers personal questions by reading real books — not AI memory.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554480"/>
            <a:ext cx="3749039" cy="5029200"/>
          </a:xfrm>
          <a:prstGeom prst="rect">
            <a:avLst/>
          </a:prstGeom>
          <a:solidFill>
            <a:srgbClr val="FFFFFF"/>
          </a:solidFill>
          <a:ln w="6350">
            <a:solidFill>
              <a:srgbClr val="E9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a:spPr>
          <a:prstGeom prst="roundRect">
            <a:avLst>
              <a:gd name="adj" fmla="val 30000"/>
            </a:avLst>
          </a:prstGeom>
        </a:spPr>
      </p:sp>
      <p:sp>
        <p:nvSpPr>
          <p:cNvPr id="9" name="TextBox 8"/>
          <p:cNvSpPr txBox="1"/>
          <p:nvPr/>
        </p:nvSpPr>
        <p:spPr>
          <a:xfrm>
            <a:off x="457200" y="1691640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A884"/>
                </a:solidFill>
                <a:latin typeface="Calibri"/>
              </a:rP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03120"/>
            <a:ext cx="3383279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100">
                <a:solidFill>
                  <a:srgbClr val="111B21"/>
                </a:solidFill>
                <a:latin typeface="Calibri"/>
              </a:defRPr>
            </a:pPr>
            <a:r>
              <a:t>• Most AI assistants rely on training data</a:t>
            </a:r>
          </a:p>
          <a:p>
            <a:pPr>
              <a:spcBef>
                <a:spcPts val="300"/>
              </a:spcBef>
              <a:defRPr sz="1100">
                <a:solidFill>
                  <a:srgbClr val="111B21"/>
                </a:solidFill>
                <a:latin typeface="Calibri"/>
              </a:defRPr>
            </a:pPr>
            <a:r>
              <a:t>• Hallucinations, vague advice, no citations</a:t>
            </a:r>
          </a:p>
          <a:p>
            <a:pPr>
              <a:spcBef>
                <a:spcPts val="300"/>
              </a:spcBef>
              <a:defRPr sz="1100">
                <a:solidFill>
                  <a:srgbClr val="111B21"/>
                </a:solidFill>
                <a:latin typeface="Calibri"/>
              </a:defRPr>
            </a:pPr>
            <a:r>
              <a:t>• No grounding in real psychological frameworks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554480"/>
            <a:ext cx="3749039" cy="5029200"/>
          </a:xfrm>
          <a:prstGeom prst="rect">
            <a:avLst/>
          </a:prstGeom>
          <a:solidFill>
            <a:srgbClr val="FFFFFF"/>
          </a:solidFill>
          <a:ln w="6350">
            <a:solidFill>
              <a:srgbClr val="E9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a:spPr>
          <a:prstGeom prst="roundRect">
            <a:avLst>
              <a:gd name="adj" fmla="val 30000"/>
            </a:avLst>
          </a:prstGeom>
        </a:spPr>
      </p:sp>
      <p:sp>
        <p:nvSpPr>
          <p:cNvPr id="12" name="TextBox 11"/>
          <p:cNvSpPr txBox="1"/>
          <p:nvPr/>
        </p:nvSpPr>
        <p:spPr>
          <a:xfrm>
            <a:off x="4389120" y="1691640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A884"/>
                </a:solidFill>
                <a:latin typeface="Calibri"/>
              </a:rPr>
              <a:t>The 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103120"/>
            <a:ext cx="3383279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100">
                <a:solidFill>
                  <a:srgbClr val="111B21"/>
                </a:solidFill>
                <a:latin typeface="Calibri"/>
              </a:defRPr>
            </a:pPr>
            <a:r>
              <a:t>• 7 real psychology books stored as 5,640 chunks</a:t>
            </a:r>
          </a:p>
          <a:p>
            <a:pPr>
              <a:spcBef>
                <a:spcPts val="300"/>
              </a:spcBef>
              <a:defRPr sz="1100">
                <a:solidFill>
                  <a:srgbClr val="111B21"/>
                </a:solidFill>
                <a:latin typeface="Calibri"/>
              </a:defRPr>
            </a:pPr>
            <a:r>
              <a:t>• Every answer cited from actual book pages</a:t>
            </a:r>
          </a:p>
          <a:p>
            <a:pPr>
              <a:spcBef>
                <a:spcPts val="300"/>
              </a:spcBef>
              <a:defRPr sz="1100">
                <a:solidFill>
                  <a:srgbClr val="111B21"/>
                </a:solidFill>
                <a:latin typeface="Calibri"/>
              </a:defRPr>
            </a:pPr>
            <a:r>
              <a:t>• Agentic pipeline evaluates &amp; retries if needed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554480"/>
            <a:ext cx="3749039" cy="5029200"/>
          </a:xfrm>
          <a:prstGeom prst="rect">
            <a:avLst/>
          </a:prstGeom>
          <a:solidFill>
            <a:srgbClr val="FFFFFF"/>
          </a:solidFill>
          <a:ln w="6350">
            <a:solidFill>
              <a:srgbClr val="E9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a:spPr>
          <a:prstGeom prst="roundRect">
            <a:avLst>
              <a:gd name="adj" fmla="val 30000"/>
            </a:avLst>
          </a:prstGeom>
        </a:spPr>
      </p:sp>
      <p:sp>
        <p:nvSpPr>
          <p:cNvPr id="15" name="TextBox 14"/>
          <p:cNvSpPr txBox="1"/>
          <p:nvPr/>
        </p:nvSpPr>
        <p:spPr>
          <a:xfrm>
            <a:off x="8321040" y="1691640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A884"/>
                </a:solidFill>
                <a:latin typeface="Calibri"/>
              </a:rPr>
              <a:t>The Result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103120"/>
            <a:ext cx="3383279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100">
                <a:solidFill>
                  <a:srgbClr val="111B21"/>
                </a:solidFill>
                <a:latin typeface="Calibri"/>
              </a:defRPr>
            </a:pPr>
            <a:r>
              <a:t>• Warm, evidence-based advice</a:t>
            </a:r>
          </a:p>
          <a:p>
            <a:pPr>
              <a:spcBef>
                <a:spcPts val="300"/>
              </a:spcBef>
              <a:defRPr sz="1100">
                <a:solidFill>
                  <a:srgbClr val="111B21"/>
                </a:solidFill>
                <a:latin typeface="Calibri"/>
              </a:defRPr>
            </a:pPr>
            <a:r>
              <a:t>• Structured action plan with time horizon</a:t>
            </a:r>
          </a:p>
          <a:p>
            <a:pPr>
              <a:spcBef>
                <a:spcPts val="300"/>
              </a:spcBef>
              <a:defRPr sz="1100">
                <a:solidFill>
                  <a:srgbClr val="111B21"/>
                </a:solidFill>
                <a:latin typeface="Calibri"/>
              </a:defRPr>
            </a:pPr>
            <a:r>
              <a:t>• Live streaming of each agent step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A884"/>
                </a:solidFill>
                <a:latin typeface="Calibri"/>
              </a:rPr>
              <a:t>Tech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88952" cy="25400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67781"/>
                </a:solidFill>
                <a:latin typeface="Calibri"/>
              </a:rPr>
              <a:t>Every layer of the system uses a purpose-built tool.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600200"/>
            <a:ext cx="55778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9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a:spPr>
          <a:prstGeom prst="roundRect">
            <a:avLst>
              <a:gd name="adj" fmla="val 20000"/>
            </a:avLst>
          </a:prstGeom>
        </a:spPr>
      </p:sp>
      <p:sp>
        <p:nvSpPr>
          <p:cNvPr id="9" name="Rectangle 8"/>
          <p:cNvSpPr/>
          <p:nvPr/>
        </p:nvSpPr>
        <p:spPr>
          <a:xfrm>
            <a:off x="274320" y="1600200"/>
            <a:ext cx="54864" cy="1417320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709928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A884"/>
                </a:solidFill>
                <a:latin typeface="Calibri"/>
              </a:rPr>
              <a:t>🧠  LLM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02082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11B21"/>
                </a:solidFill>
                <a:latin typeface="Calibri"/>
              </a:rPr>
              <a:t>Groq — Llama 3.3 70B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3774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7781"/>
                </a:solidFill>
                <a:latin typeface="Calibri"/>
              </a:rPr>
              <a:t>LPU inference. ~4s full pipeline.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600200"/>
            <a:ext cx="55778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9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a:spPr>
          <a:prstGeom prst="roundRect">
            <a:avLst>
              <a:gd name="adj" fmla="val 20000"/>
            </a:avLst>
          </a:prstGeom>
        </a:spPr>
      </p:sp>
      <p:sp>
        <p:nvSpPr>
          <p:cNvPr id="14" name="Rectangle 13"/>
          <p:cNvSpPr/>
          <p:nvPr/>
        </p:nvSpPr>
        <p:spPr>
          <a:xfrm>
            <a:off x="6217920" y="1600200"/>
            <a:ext cx="54864" cy="1417320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709928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A884"/>
                </a:solidFill>
                <a:latin typeface="Calibri"/>
              </a:rPr>
              <a:t>🔗  Orchestration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02082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11B21"/>
                </a:solidFill>
                <a:latin typeface="Calibri"/>
              </a:rPr>
              <a:t>LangGraph + LangChain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3774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7781"/>
                </a:solidFill>
                <a:latin typeface="Calibri"/>
              </a:rPr>
              <a:t>Stateful 8-node directed graph.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246120"/>
            <a:ext cx="55778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9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a:spPr>
          <a:prstGeom prst="roundRect">
            <a:avLst>
              <a:gd name="adj" fmla="val 20000"/>
            </a:avLst>
          </a:prstGeom>
        </a:spPr>
      </p:sp>
      <p:sp>
        <p:nvSpPr>
          <p:cNvPr id="19" name="Rectangle 18"/>
          <p:cNvSpPr/>
          <p:nvPr/>
        </p:nvSpPr>
        <p:spPr>
          <a:xfrm>
            <a:off x="274320" y="3246120"/>
            <a:ext cx="54864" cy="1417320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355848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A884"/>
                </a:solidFill>
                <a:latin typeface="Calibri"/>
              </a:rPr>
              <a:t>🗄️  Vector DB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66674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11B21"/>
                </a:solidFill>
                <a:latin typeface="Calibri"/>
              </a:rPr>
              <a:t>ChromaDB (HNSW index)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02336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7781"/>
                </a:solidFill>
                <a:latin typeface="Calibri"/>
              </a:rPr>
              <a:t>5,640 chunks stored as vectors.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3246120"/>
            <a:ext cx="55778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9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a:spPr>
          <a:prstGeom prst="roundRect">
            <a:avLst>
              <a:gd name="adj" fmla="val 20000"/>
            </a:avLst>
          </a:prstGeom>
        </a:spPr>
      </p:sp>
      <p:sp>
        <p:nvSpPr>
          <p:cNvPr id="24" name="Rectangle 23"/>
          <p:cNvSpPr/>
          <p:nvPr/>
        </p:nvSpPr>
        <p:spPr>
          <a:xfrm>
            <a:off x="6217920" y="3246120"/>
            <a:ext cx="54864" cy="1417320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3355848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A884"/>
                </a:solidFill>
                <a:latin typeface="Calibri"/>
              </a:rPr>
              <a:t>🔍  Retrieval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66674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11B21"/>
                </a:solidFill>
                <a:latin typeface="Calibri"/>
              </a:rPr>
              <a:t>BM25 + Dense + Cohere Rerank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02336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7781"/>
                </a:solidFill>
                <a:latin typeface="Calibri"/>
              </a:rPr>
              <a:t>Hybrid search, neural reranking.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4892040"/>
            <a:ext cx="55778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9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a:spPr>
          <a:prstGeom prst="roundRect">
            <a:avLst>
              <a:gd name="adj" fmla="val 20000"/>
            </a:avLst>
          </a:prstGeom>
        </a:spPr>
      </p:sp>
      <p:sp>
        <p:nvSpPr>
          <p:cNvPr id="29" name="Rectangle 28"/>
          <p:cNvSpPr/>
          <p:nvPr/>
        </p:nvSpPr>
        <p:spPr>
          <a:xfrm>
            <a:off x="274320" y="4892040"/>
            <a:ext cx="54864" cy="1417320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5001768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A884"/>
                </a:solidFill>
                <a:latin typeface="Calibri"/>
              </a:rPr>
              <a:t>⚡  API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31266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11B21"/>
                </a:solidFill>
                <a:latin typeface="Calibri"/>
              </a:rPr>
              <a:t>FastAPI + SSE Streaming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6692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7781"/>
                </a:solidFill>
                <a:latin typeface="Calibri"/>
              </a:rPr>
              <a:t>Streams each node event live.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4892040"/>
            <a:ext cx="55778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9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a:spPr>
          <a:prstGeom prst="roundRect">
            <a:avLst>
              <a:gd name="adj" fmla="val 20000"/>
            </a:avLst>
          </a:prstGeom>
        </a:spPr>
      </p:sp>
      <p:sp>
        <p:nvSpPr>
          <p:cNvPr id="34" name="Rectangle 33"/>
          <p:cNvSpPr/>
          <p:nvPr/>
        </p:nvSpPr>
        <p:spPr>
          <a:xfrm>
            <a:off x="6217920" y="4892040"/>
            <a:ext cx="54864" cy="1417320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5001768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A884"/>
                </a:solidFill>
                <a:latin typeface="Calibri"/>
              </a:rPr>
              <a:t>💻  Frontend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531266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11B21"/>
                </a:solidFill>
                <a:latin typeface="Calibri"/>
              </a:rPr>
              <a:t>React 18 + Vite + Tailwind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56692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7781"/>
                </a:solidFill>
                <a:latin typeface="Calibri"/>
              </a:rPr>
              <a:t>Real-time agent flow visualizer.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A884"/>
                </a:solidFill>
                <a:latin typeface="Calibri"/>
              </a:rPr>
              <a:t>LangGraph — The 8-Node Agent Graph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88952" cy="25400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972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7781"/>
                </a:solidFill>
                <a:latin typeface="Calibri"/>
              </a:rPr>
              <a:t>Each node reads from and writes to a shared AgentState. LangGraph routes between nodes based on conditions.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600200"/>
            <a:ext cx="3657600" cy="658368"/>
          </a:xfrm>
          <a:prstGeom prst="rect">
            <a:avLst/>
          </a:prstGeom>
          <a:solidFill>
            <a:srgbClr val="6B6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a:spPr>
          <a:prstGeom prst="roundRect">
            <a:avLst>
              <a:gd name="adj" fmla="val 20000"/>
            </a:avLst>
          </a:prstGeom>
        </a:spPr>
      </p:sp>
      <p:sp>
        <p:nvSpPr>
          <p:cNvPr id="9" name="TextBox 8"/>
          <p:cNvSpPr txBox="1"/>
          <p:nvPr/>
        </p:nvSpPr>
        <p:spPr>
          <a:xfrm>
            <a:off x="411480" y="1655064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1. Classifier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947672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Detect situation type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514600"/>
            <a:ext cx="3657600" cy="658368"/>
          </a:xfrm>
          <a:prstGeom prst="rect">
            <a:avLst/>
          </a:prstGeom>
          <a:solidFill>
            <a:srgbClr val="E5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a:spPr>
          <a:prstGeom prst="roundRect">
            <a:avLst>
              <a:gd name="adj" fmla="val 20000"/>
            </a:avLst>
          </a:prstGeom>
        </a:spPr>
      </p:sp>
      <p:sp>
        <p:nvSpPr>
          <p:cNvPr id="12" name="TextBox 11"/>
          <p:cNvSpPr txBox="1"/>
          <p:nvPr/>
        </p:nvSpPr>
        <p:spPr>
          <a:xfrm>
            <a:off x="411480" y="2569464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2. Guard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862072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Block off-topic instantly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429000"/>
            <a:ext cx="3657600" cy="658368"/>
          </a:xfrm>
          <a:prstGeom prst="rect">
            <a:avLst/>
          </a:prstGeom>
          <a:solidFill>
            <a:srgbClr val="008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a:spPr>
          <a:prstGeom prst="roundRect">
            <a:avLst>
              <a:gd name="adj" fmla="val 20000"/>
            </a:avLst>
          </a:prstGeom>
        </a:spPr>
      </p:sp>
      <p:sp>
        <p:nvSpPr>
          <p:cNvPr id="15" name="TextBox 14"/>
          <p:cNvSpPr txBox="1"/>
          <p:nvPr/>
        </p:nvSpPr>
        <p:spPr>
          <a:xfrm>
            <a:off x="411480" y="3483864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3. Retriever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3776472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Hybrid BM25+Dense+Cohere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343400"/>
            <a:ext cx="3657600" cy="658368"/>
          </a:xfrm>
          <a:prstGeom prst="rect">
            <a:avLst/>
          </a:prstGeom>
          <a:solidFill>
            <a:srgbClr val="B5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a:spPr>
          <a:prstGeom prst="roundRect">
            <a:avLst>
              <a:gd name="adj" fmla="val 20000"/>
            </a:avLst>
          </a:prstGeom>
        </a:spPr>
      </p:sp>
      <p:sp>
        <p:nvSpPr>
          <p:cNvPr id="18" name="TextBox 17"/>
          <p:cNvSpPr txBox="1"/>
          <p:nvPr/>
        </p:nvSpPr>
        <p:spPr>
          <a:xfrm>
            <a:off x="411480" y="4398264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4. Evaluator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690872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Quality check on chunks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06240" y="4343400"/>
            <a:ext cx="3657600" cy="658368"/>
          </a:xfrm>
          <a:prstGeom prst="rect">
            <a:avLst/>
          </a:prstGeom>
          <a:solidFill>
            <a:srgbClr val="CC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a:spPr>
          <a:prstGeom prst="roundRect">
            <a:avLst>
              <a:gd name="adj" fmla="val 20000"/>
            </a:avLst>
          </a:prstGeom>
        </a:spPr>
      </p:sp>
      <p:sp>
        <p:nvSpPr>
          <p:cNvPr id="21" name="TextBox 20"/>
          <p:cNvSpPr txBox="1"/>
          <p:nvPr/>
        </p:nvSpPr>
        <p:spPr>
          <a:xfrm>
            <a:off x="4343400" y="4398264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5. Query Refiner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4690872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LLM rewrites query (max 3×)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6240" y="3429000"/>
            <a:ext cx="3657600" cy="658368"/>
          </a:xfrm>
          <a:prstGeom prst="rect">
            <a:avLst/>
          </a:prstGeom>
          <a:solidFill>
            <a:srgbClr val="7B3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a:spPr>
          <a:prstGeom prst="roundRect">
            <a:avLst>
              <a:gd name="adj" fmla="val 20000"/>
            </a:avLst>
          </a:prstGeom>
        </a:spPr>
      </p:sp>
      <p:sp>
        <p:nvSpPr>
          <p:cNvPr id="24" name="TextBox 23"/>
          <p:cNvSpPr txBox="1"/>
          <p:nvPr/>
        </p:nvSpPr>
        <p:spPr>
          <a:xfrm>
            <a:off x="4343400" y="3483864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6. Psychologist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3776472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Generate warm response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06240" y="2514600"/>
            <a:ext cx="3657600" cy="658368"/>
          </a:xfrm>
          <a:prstGeom prst="rect">
            <a:avLst/>
          </a:prstGeom>
          <a:solidFill>
            <a:srgbClr val="C04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a:spPr>
          <a:prstGeom prst="roundRect">
            <a:avLst>
              <a:gd name="adj" fmla="val 20000"/>
            </a:avLst>
          </a:prstGeom>
        </a:spPr>
      </p:sp>
      <p:sp>
        <p:nvSpPr>
          <p:cNvPr id="27" name="TextBox 26"/>
          <p:cNvSpPr txBox="1"/>
          <p:nvPr/>
        </p:nvSpPr>
        <p:spPr>
          <a:xfrm>
            <a:off x="4343400" y="2569464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7. Action Planner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2862072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Structured action steps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06240" y="1600200"/>
            <a:ext cx="3657600" cy="658368"/>
          </a:xfrm>
          <a:prstGeom prst="rect">
            <a:avLst/>
          </a:prstGeom>
          <a:solidFill>
            <a:srgbClr val="008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a:spPr>
          <a:prstGeom prst="roundRect">
            <a:avLst>
              <a:gd name="adj" fmla="val 20000"/>
            </a:avLst>
          </a:prstGeom>
        </a:spPr>
      </p:sp>
      <p:sp>
        <p:nvSpPr>
          <p:cNvPr id="30" name="TextBox 29"/>
          <p:cNvSpPr txBox="1"/>
          <p:nvPr/>
        </p:nvSpPr>
        <p:spPr>
          <a:xfrm>
            <a:off x="4343400" y="1655064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8. Follow-up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43400" y="1947672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Ask 1 follow-up question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011680" y="2258568"/>
            <a:ext cx="38100" cy="256032"/>
          </a:xfrm>
          <a:prstGeom prst="rect">
            <a:avLst/>
          </a:prstGeom>
          <a:solidFill>
            <a:srgbClr val="7EB5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011680" y="3172968"/>
            <a:ext cx="38100" cy="256032"/>
          </a:xfrm>
          <a:prstGeom prst="rect">
            <a:avLst/>
          </a:prstGeom>
          <a:solidFill>
            <a:srgbClr val="7EB5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011680" y="4087368"/>
            <a:ext cx="38100" cy="256032"/>
          </a:xfrm>
          <a:prstGeom prst="rect">
            <a:avLst/>
          </a:prstGeom>
          <a:solidFill>
            <a:srgbClr val="7EB5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206240" y="5074920"/>
            <a:ext cx="3657600" cy="548640"/>
          </a:xfrm>
          <a:prstGeom prst="rect">
            <a:avLst/>
          </a:prstGeom>
          <a:solidFill>
            <a:srgbClr val="FFF0ED"/>
          </a:solidFill>
          <a:ln w="10160">
            <a:solidFill>
              <a:srgbClr val="CC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a:spPr>
          <a:prstGeom prst="roundRect">
            <a:avLst>
              <a:gd name="adj" fmla="val 10000"/>
            </a:avLst>
          </a:prstGeom>
        </a:spPr>
      </p:sp>
      <p:sp>
        <p:nvSpPr>
          <p:cNvPr id="36" name="TextBox 35"/>
          <p:cNvSpPr txBox="1"/>
          <p:nvPr/>
        </p:nvSpPr>
        <p:spPr>
          <a:xfrm>
            <a:off x="4343400" y="513892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4444"/>
                </a:solidFill>
                <a:latin typeface="Calibri"/>
              </a:rPr>
              <a:t>↩  Retry loop — Evaluator → Refiner → Retriever (max 3×)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0" y="1691640"/>
            <a:ext cx="36576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9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a:spPr>
          <a:prstGeom prst="roundRect">
            <a:avLst>
              <a:gd name="adj" fmla="val 15000"/>
            </a:avLst>
          </a:prstGeom>
        </a:spPr>
      </p:sp>
      <p:sp>
        <p:nvSpPr>
          <p:cNvPr id="38" name="TextBox 37"/>
          <p:cNvSpPr txBox="1"/>
          <p:nvPr/>
        </p:nvSpPr>
        <p:spPr>
          <a:xfrm>
            <a:off x="8366760" y="1801368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B21"/>
                </a:solidFill>
                <a:latin typeface="Calibri"/>
              </a:rPr>
              <a:t>✓  AgentState flows through every node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29600" y="2743200"/>
            <a:ext cx="36576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9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a:spPr>
          <a:prstGeom prst="roundRect">
            <a:avLst>
              <a:gd name="adj" fmla="val 15000"/>
            </a:avLst>
          </a:prstGeom>
        </a:spPr>
      </p:sp>
      <p:sp>
        <p:nvSpPr>
          <p:cNvPr id="40" name="TextBox 39"/>
          <p:cNvSpPr txBox="1"/>
          <p:nvPr/>
        </p:nvSpPr>
        <p:spPr>
          <a:xfrm>
            <a:off x="8366760" y="2852928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B21"/>
                </a:solidFill>
                <a:latin typeface="Calibri"/>
              </a:rPr>
              <a:t>✓  Conditional routing after Classifier &amp; Evaluator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29600" y="3794760"/>
            <a:ext cx="36576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9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a:spPr>
          <a:prstGeom prst="roundRect">
            <a:avLst>
              <a:gd name="adj" fmla="val 15000"/>
            </a:avLst>
          </a:prstGeom>
        </a:spPr>
      </p:sp>
      <p:sp>
        <p:nvSpPr>
          <p:cNvPr id="42" name="TextBox 41"/>
          <p:cNvSpPr txBox="1"/>
          <p:nvPr/>
        </p:nvSpPr>
        <p:spPr>
          <a:xfrm>
            <a:off x="8366760" y="3904487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B21"/>
                </a:solidFill>
                <a:latin typeface="Calibri"/>
              </a:rPr>
              <a:t>✓  Graph compiled once at server startup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29600" y="4846320"/>
            <a:ext cx="36576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9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a:spPr>
          <a:prstGeom prst="roundRect">
            <a:avLst>
              <a:gd name="adj" fmla="val 15000"/>
            </a:avLst>
          </a:prstGeom>
        </a:spPr>
      </p:sp>
      <p:sp>
        <p:nvSpPr>
          <p:cNvPr id="44" name="TextBox 43"/>
          <p:cNvSpPr txBox="1"/>
          <p:nvPr/>
        </p:nvSpPr>
        <p:spPr>
          <a:xfrm>
            <a:off x="8366760" y="4956048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B21"/>
                </a:solidFill>
                <a:latin typeface="Calibri"/>
              </a:rPr>
              <a:t>✓  Each node streams its output via SSE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A884"/>
                </a:solidFill>
                <a:latin typeface="Calibri"/>
              </a:rPr>
              <a:t>What Makes It 'Agentic' RAG?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88952" cy="25400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972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67781"/>
                </a:solidFill>
                <a:latin typeface="Calibri"/>
              </a:rPr>
              <a:t>The system doesn't just retrieve — it evaluates quality and adapts.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600200"/>
            <a:ext cx="5394960" cy="5029200"/>
          </a:xfrm>
          <a:prstGeom prst="rect">
            <a:avLst/>
          </a:prstGeom>
          <a:solidFill>
            <a:srgbClr val="FFFFFF"/>
          </a:solidFill>
          <a:ln w="10160">
            <a:solidFill>
              <a:srgbClr val="E9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a:spPr>
          <a:prstGeom prst="roundRect">
            <a:avLst>
              <a:gd name="adj" fmla="val 20000"/>
            </a:avLst>
          </a:prstGeom>
        </a:spPr>
      </p:sp>
      <p:sp>
        <p:nvSpPr>
          <p:cNvPr id="9" name="TextBox 8"/>
          <p:cNvSpPr txBox="1"/>
          <p:nvPr/>
        </p:nvSpPr>
        <p:spPr>
          <a:xfrm>
            <a:off x="457200" y="17373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67781"/>
                </a:solidFill>
                <a:latin typeface="Calibri"/>
              </a:rPr>
              <a:t>Regular RAG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286000"/>
            <a:ext cx="4846320" cy="64008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a:spPr>
          <a:prstGeom prst="roundRect">
            <a:avLst>
              <a:gd name="adj" fmla="val 15000"/>
            </a:avLst>
          </a:prstGeom>
        </a:spPr>
      </p:sp>
      <p:sp>
        <p:nvSpPr>
          <p:cNvPr id="11" name="TextBox 10"/>
          <p:cNvSpPr txBox="1"/>
          <p:nvPr/>
        </p:nvSpPr>
        <p:spPr>
          <a:xfrm>
            <a:off x="685800" y="235915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B21"/>
                </a:solidFill>
                <a:latin typeface="Calibri"/>
              </a:rPr>
              <a:t>User question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26080" y="2907792"/>
            <a:ext cx="25400" cy="338328"/>
          </a:xfrm>
          <a:prstGeom prst="rect">
            <a:avLst/>
          </a:prstGeom>
          <a:solidFill>
            <a:srgbClr val="6677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246120"/>
            <a:ext cx="4846320" cy="64008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a:spPr>
          <a:prstGeom prst="roundRect">
            <a:avLst>
              <a:gd name="adj" fmla="val 15000"/>
            </a:avLst>
          </a:prstGeom>
        </a:spPr>
      </p:sp>
      <p:sp>
        <p:nvSpPr>
          <p:cNvPr id="14" name="TextBox 13"/>
          <p:cNvSpPr txBox="1"/>
          <p:nvPr/>
        </p:nvSpPr>
        <p:spPr>
          <a:xfrm>
            <a:off x="685800" y="331927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B21"/>
                </a:solidFill>
                <a:latin typeface="Calibri"/>
              </a:rPr>
              <a:t>Retrieve chunks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80" y="3867912"/>
            <a:ext cx="25400" cy="338328"/>
          </a:xfrm>
          <a:prstGeom prst="rect">
            <a:avLst/>
          </a:prstGeom>
          <a:solidFill>
            <a:srgbClr val="6677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206240"/>
            <a:ext cx="4846320" cy="64008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a:spPr>
          <a:prstGeom prst="roundRect">
            <a:avLst>
              <a:gd name="adj" fmla="val 15000"/>
            </a:avLst>
          </a:prstGeom>
        </a:spPr>
      </p:sp>
      <p:sp>
        <p:nvSpPr>
          <p:cNvPr id="17" name="TextBox 16"/>
          <p:cNvSpPr txBox="1"/>
          <p:nvPr/>
        </p:nvSpPr>
        <p:spPr>
          <a:xfrm>
            <a:off x="685800" y="427939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B21"/>
                </a:solidFill>
                <a:latin typeface="Calibri"/>
              </a:rPr>
              <a:t>Generate answer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26080" y="4828032"/>
            <a:ext cx="25400" cy="338328"/>
          </a:xfrm>
          <a:prstGeom prst="rect">
            <a:avLst/>
          </a:prstGeom>
          <a:solidFill>
            <a:srgbClr val="6677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5166360"/>
            <a:ext cx="4846320" cy="64008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a:spPr>
          <a:prstGeom prst="roundRect">
            <a:avLst>
              <a:gd name="adj" fmla="val 15000"/>
            </a:avLst>
          </a:prstGeom>
        </a:spPr>
      </p:sp>
      <p:sp>
        <p:nvSpPr>
          <p:cNvPr id="20" name="TextBox 19"/>
          <p:cNvSpPr txBox="1"/>
          <p:nvPr/>
        </p:nvSpPr>
        <p:spPr>
          <a:xfrm>
            <a:off x="685800" y="523951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1B21"/>
                </a:solidFill>
                <a:latin typeface="Calibri"/>
              </a:rPr>
              <a:t>(Done — no checks)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1722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4444"/>
                </a:solidFill>
                <a:latin typeface="Calibri"/>
              </a:rPr>
              <a:t>No quality check. Blindly proceeds.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0" y="1600200"/>
            <a:ext cx="5943600" cy="5029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A8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a:spPr>
          <a:prstGeom prst="roundRect">
            <a:avLst>
              <a:gd name="adj" fmla="val 20000"/>
            </a:avLst>
          </a:prstGeom>
        </a:spPr>
      </p:sp>
      <p:sp>
        <p:nvSpPr>
          <p:cNvPr id="23" name="TextBox 22"/>
          <p:cNvSpPr txBox="1"/>
          <p:nvPr/>
        </p:nvSpPr>
        <p:spPr>
          <a:xfrm>
            <a:off x="6126480" y="173736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A884"/>
                </a:solidFill>
                <a:latin typeface="Calibri"/>
              </a:rPr>
              <a:t>Agentic RAG  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2240280"/>
            <a:ext cx="5394960" cy="603504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a:spPr>
          <a:prstGeom prst="roundRect">
            <a:avLst>
              <a:gd name="adj" fmla="val 15000"/>
            </a:avLst>
          </a:prstGeom>
        </a:spPr>
      </p:sp>
      <p:sp>
        <p:nvSpPr>
          <p:cNvPr id="25" name="TextBox 24"/>
          <p:cNvSpPr txBox="1"/>
          <p:nvPr/>
        </p:nvSpPr>
        <p:spPr>
          <a:xfrm>
            <a:off x="6355080" y="2304288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B21"/>
                </a:solidFill>
                <a:latin typeface="Calibri"/>
              </a:rPr>
              <a:t>Classify situation type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869680" y="2825496"/>
            <a:ext cx="25400" cy="265176"/>
          </a:xfrm>
          <a:prstGeom prst="rect">
            <a:avLst/>
          </a:prstGeom>
          <a:solidFill>
            <a:srgbClr val="7EB5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3108960"/>
            <a:ext cx="5394960" cy="603504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a:spPr>
          <a:prstGeom prst="roundRect">
            <a:avLst>
              <a:gd name="adj" fmla="val 15000"/>
            </a:avLst>
          </a:prstGeom>
        </a:spPr>
      </p:sp>
      <p:sp>
        <p:nvSpPr>
          <p:cNvPr id="28" name="TextBox 27"/>
          <p:cNvSpPr txBox="1"/>
          <p:nvPr/>
        </p:nvSpPr>
        <p:spPr>
          <a:xfrm>
            <a:off x="6355080" y="3172968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B21"/>
                </a:solidFill>
                <a:latin typeface="Calibri"/>
              </a:rPr>
              <a:t>Retrieve chunks (filtered)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69680" y="3694176"/>
            <a:ext cx="25400" cy="265176"/>
          </a:xfrm>
          <a:prstGeom prst="rect">
            <a:avLst/>
          </a:prstGeom>
          <a:solidFill>
            <a:srgbClr val="7EB5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3977639"/>
            <a:ext cx="5394960" cy="603504"/>
          </a:xfrm>
          <a:prstGeom prst="rect">
            <a:avLst/>
          </a:prstGeom>
          <a:solidFill>
            <a:srgbClr val="D9FD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a:spPr>
          <a:prstGeom prst="roundRect">
            <a:avLst>
              <a:gd name="adj" fmla="val 15000"/>
            </a:avLst>
          </a:prstGeom>
        </a:spPr>
      </p:sp>
      <p:sp>
        <p:nvSpPr>
          <p:cNvPr id="31" name="TextBox 30"/>
          <p:cNvSpPr txBox="1"/>
          <p:nvPr/>
        </p:nvSpPr>
        <p:spPr>
          <a:xfrm>
            <a:off x="6355080" y="4041648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B21"/>
                </a:solidFill>
                <a:latin typeface="Calibri"/>
              </a:rPr>
              <a:t>Evaluate quality — SUFFICIENT?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869680" y="4562856"/>
            <a:ext cx="25400" cy="265176"/>
          </a:xfrm>
          <a:prstGeom prst="rect">
            <a:avLst/>
          </a:prstGeom>
          <a:solidFill>
            <a:srgbClr val="7EB5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17920" y="4846320"/>
            <a:ext cx="5394960" cy="603504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a:spPr>
          <a:prstGeom prst="roundRect">
            <a:avLst>
              <a:gd name="adj" fmla="val 15000"/>
            </a:avLst>
          </a:prstGeom>
        </a:spPr>
      </p:sp>
      <p:sp>
        <p:nvSpPr>
          <p:cNvPr id="34" name="TextBox 33"/>
          <p:cNvSpPr txBox="1"/>
          <p:nvPr/>
        </p:nvSpPr>
        <p:spPr>
          <a:xfrm>
            <a:off x="6355080" y="4910327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B21"/>
                </a:solidFill>
                <a:latin typeface="Calibri"/>
              </a:rPr>
              <a:t>Refine query &amp; retry (max 3×)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69680" y="5431536"/>
            <a:ext cx="25400" cy="265176"/>
          </a:xfrm>
          <a:prstGeom prst="rect">
            <a:avLst/>
          </a:prstGeom>
          <a:solidFill>
            <a:srgbClr val="7EB5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17920" y="5715000"/>
            <a:ext cx="5394960" cy="603504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a:spPr>
          <a:prstGeom prst="roundRect">
            <a:avLst>
              <a:gd name="adj" fmla="val 15000"/>
            </a:avLst>
          </a:prstGeom>
        </a:spPr>
      </p:sp>
      <p:sp>
        <p:nvSpPr>
          <p:cNvPr id="37" name="TextBox 36"/>
          <p:cNvSpPr txBox="1"/>
          <p:nvPr/>
        </p:nvSpPr>
        <p:spPr>
          <a:xfrm>
            <a:off x="6355080" y="5779008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B21"/>
                </a:solidFill>
                <a:latin typeface="Calibri"/>
              </a:rPr>
              <a:t>Generate response + action plan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26480" y="617220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A884"/>
                </a:solidFill>
                <a:latin typeface="Calibri"/>
              </a:rPr>
              <a:t>Self-evaluates. Retries. Improves.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A884"/>
                </a:solidFill>
                <a:latin typeface="Calibri"/>
              </a:rPr>
              <a:t>Embeddings &amp; Vector Database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88952" cy="25400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972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67781"/>
                </a:solidFill>
                <a:latin typeface="Calibri"/>
              </a:rPr>
              <a:t>How text becomes searchable numbers — and how similar meanings are found.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600200"/>
            <a:ext cx="5577840" cy="5029200"/>
          </a:xfrm>
          <a:prstGeom prst="rect">
            <a:avLst/>
          </a:prstGeom>
          <a:solidFill>
            <a:srgbClr val="FFFFFF"/>
          </a:solidFill>
          <a:ln w="6350">
            <a:solidFill>
              <a:srgbClr val="E9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a:spPr>
          <a:prstGeom prst="roundRect">
            <a:avLst>
              <a:gd name="adj" fmla="val 20000"/>
            </a:avLst>
          </a:prstGeom>
        </a:spPr>
      </p:sp>
      <p:sp>
        <p:nvSpPr>
          <p:cNvPr id="9" name="TextBox 8"/>
          <p:cNvSpPr txBox="1"/>
          <p:nvPr/>
        </p:nvSpPr>
        <p:spPr>
          <a:xfrm>
            <a:off x="457200" y="17373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A884"/>
                </a:solidFill>
                <a:latin typeface="Calibri"/>
              </a:rPr>
              <a:t>What is an Embedding?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945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7781"/>
                </a:solidFill>
                <a:latin typeface="Calibri"/>
              </a:rPr>
              <a:t>Text → 384 numbers capturing MEANING. Similar meanings → close vectors.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97480"/>
            <a:ext cx="5212080" cy="777240"/>
          </a:xfrm>
          <a:prstGeom prst="rect">
            <a:avLst/>
          </a:prstGeom>
          <a:solidFill>
            <a:srgbClr val="D9FD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a:spPr>
          <a:prstGeom prst="roundRect">
            <a:avLst>
              <a:gd name="adj" fmla="val 10000"/>
            </a:avLst>
          </a:prstGeom>
        </a:spPr>
      </p:sp>
      <p:sp>
        <p:nvSpPr>
          <p:cNvPr id="12" name="TextBox 11"/>
          <p:cNvSpPr txBox="1"/>
          <p:nvPr/>
        </p:nvSpPr>
        <p:spPr>
          <a:xfrm>
            <a:off x="594360" y="27432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11B21"/>
                </a:solidFill>
                <a:latin typeface="Calibri"/>
              </a:rPr>
              <a:t>"I fight with my partner"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01752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7781"/>
                </a:solidFill>
                <a:latin typeface="Calibri"/>
              </a:rPr>
              <a:t>[0.23, -0.15, 0.87, 0.44 ...]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96265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A884"/>
                </a:solidFill>
                <a:latin typeface="Calibri"/>
              </a:rPr>
              <a:t>SIMILAR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703320"/>
            <a:ext cx="5212080" cy="777240"/>
          </a:xfrm>
          <a:prstGeom prst="rect">
            <a:avLst/>
          </a:prstGeom>
          <a:solidFill>
            <a:srgbClr val="D9FD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a:spPr>
          <a:prstGeom prst="roundRect">
            <a:avLst>
              <a:gd name="adj" fmla="val 10000"/>
            </a:avLst>
          </a:prstGeom>
        </a:spPr>
      </p:sp>
      <p:sp>
        <p:nvSpPr>
          <p:cNvPr id="16" name="TextBox 15"/>
          <p:cNvSpPr txBox="1"/>
          <p:nvPr/>
        </p:nvSpPr>
        <p:spPr>
          <a:xfrm>
            <a:off x="594360" y="3749039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11B21"/>
                </a:solidFill>
                <a:latin typeface="Calibri"/>
              </a:rPr>
              <a:t>"couple disagreement"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02336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7781"/>
                </a:solidFill>
                <a:latin typeface="Calibri"/>
              </a:rPr>
              <a:t>[0.21, -0.14, 0.85, 0.46 ...]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396849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A884"/>
                </a:solidFill>
                <a:latin typeface="Calibri"/>
              </a:rPr>
              <a:t>SIMILAR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709160"/>
            <a:ext cx="5212080" cy="777240"/>
          </a:xfrm>
          <a:prstGeom prst="rect">
            <a:avLst/>
          </a:prstGeom>
          <a:solidFill>
            <a:srgbClr val="FF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a:spPr>
          <a:prstGeom prst="roundRect">
            <a:avLst>
              <a:gd name="adj" fmla="val 10000"/>
            </a:avLst>
          </a:prstGeom>
        </a:spPr>
      </p:sp>
      <p:sp>
        <p:nvSpPr>
          <p:cNvPr id="20" name="TextBox 19"/>
          <p:cNvSpPr txBox="1"/>
          <p:nvPr/>
        </p:nvSpPr>
        <p:spPr>
          <a:xfrm>
            <a:off x="594360" y="47548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11B21"/>
                </a:solidFill>
                <a:latin typeface="Calibri"/>
              </a:rPr>
              <a:t>"what is the weather?"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02920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7781"/>
                </a:solidFill>
                <a:latin typeface="Calibri"/>
              </a:rPr>
              <a:t>[0.89,  0.67,-0.23, 0.11 ...]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497433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C4444"/>
                </a:solidFill>
                <a:latin typeface="Calibri"/>
              </a:rPr>
              <a:t>DIFFERENT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68756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A884"/>
                </a:solidFill>
                <a:latin typeface="Calibri"/>
              </a:rPr>
              <a:t>Model: all-MiniLM-L6-v2 (runs locally, 384 dimensions)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1600200"/>
            <a:ext cx="5760720" cy="5029200"/>
          </a:xfrm>
          <a:prstGeom prst="rect">
            <a:avLst/>
          </a:prstGeom>
          <a:solidFill>
            <a:srgbClr val="FFFFFF"/>
          </a:solidFill>
          <a:ln w="6350">
            <a:solidFill>
              <a:srgbClr val="E9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a:spPr>
          <a:prstGeom prst="roundRect">
            <a:avLst>
              <a:gd name="adj" fmla="val 20000"/>
            </a:avLst>
          </a:prstGeom>
        </a:spPr>
      </p:sp>
      <p:sp>
        <p:nvSpPr>
          <p:cNvPr id="25" name="TextBox 24"/>
          <p:cNvSpPr txBox="1"/>
          <p:nvPr/>
        </p:nvSpPr>
        <p:spPr>
          <a:xfrm>
            <a:off x="6309360" y="17373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A884"/>
                </a:solidFill>
                <a:latin typeface="Calibri"/>
              </a:rPr>
              <a:t>ChromaDB — Vector Store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2286000"/>
            <a:ext cx="5394960" cy="621792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a:spPr>
          <a:prstGeom prst="roundRect">
            <a:avLst>
              <a:gd name="adj" fmla="val 10000"/>
            </a:avLst>
          </a:prstGeom>
        </a:spPr>
      </p:sp>
      <p:sp>
        <p:nvSpPr>
          <p:cNvPr id="27" name="TextBox 26"/>
          <p:cNvSpPr txBox="1"/>
          <p:nvPr/>
        </p:nvSpPr>
        <p:spPr>
          <a:xfrm>
            <a:off x="6446520" y="2340864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B21"/>
                </a:solidFill>
                <a:latin typeface="Calibri"/>
              </a:rPr>
              <a:t>→  Stores all 5,640 chunk vectors locally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3090672"/>
            <a:ext cx="5394960" cy="621792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a:spPr>
          <a:prstGeom prst="roundRect">
            <a:avLst>
              <a:gd name="adj" fmla="val 10000"/>
            </a:avLst>
          </a:prstGeom>
        </a:spPr>
      </p:sp>
      <p:sp>
        <p:nvSpPr>
          <p:cNvPr id="29" name="TextBox 28"/>
          <p:cNvSpPr txBox="1"/>
          <p:nvPr/>
        </p:nvSpPr>
        <p:spPr>
          <a:xfrm>
            <a:off x="6446520" y="3145536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B21"/>
                </a:solidFill>
                <a:latin typeface="Calibri"/>
              </a:rPr>
              <a:t>→  Uses HNSW index (graph-based, very fast)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3895344"/>
            <a:ext cx="5394960" cy="621792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a:spPr>
          <a:prstGeom prst="roundRect">
            <a:avLst>
              <a:gd name="adj" fmla="val 10000"/>
            </a:avLst>
          </a:prstGeom>
        </a:spPr>
      </p:sp>
      <p:sp>
        <p:nvSpPr>
          <p:cNvPr id="31" name="TextBox 30"/>
          <p:cNvSpPr txBox="1"/>
          <p:nvPr/>
        </p:nvSpPr>
        <p:spPr>
          <a:xfrm>
            <a:off x="6446520" y="395020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B21"/>
                </a:solidFill>
                <a:latin typeface="Calibri"/>
              </a:rPr>
              <a:t>→  Filters by book before searching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4700016"/>
            <a:ext cx="5394960" cy="621792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a:spPr>
          <a:prstGeom prst="roundRect">
            <a:avLst>
              <a:gd name="adj" fmla="val 10000"/>
            </a:avLst>
          </a:prstGeom>
        </a:spPr>
      </p:sp>
      <p:sp>
        <p:nvSpPr>
          <p:cNvPr id="33" name="TextBox 32"/>
          <p:cNvSpPr txBox="1"/>
          <p:nvPr/>
        </p:nvSpPr>
        <p:spPr>
          <a:xfrm>
            <a:off x="6446520" y="47548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B21"/>
                </a:solidFill>
                <a:latin typeface="Calibri"/>
              </a:rPr>
              <a:t>→  Returns 8 most similar chunks per query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5504688"/>
            <a:ext cx="5394960" cy="621792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a:spPr>
          <a:prstGeom prst="roundRect">
            <a:avLst>
              <a:gd name="adj" fmla="val 10000"/>
            </a:avLst>
          </a:prstGeom>
        </a:spPr>
      </p:sp>
      <p:sp>
        <p:nvSpPr>
          <p:cNvPr id="35" name="TextBox 34"/>
          <p:cNvSpPr txBox="1"/>
          <p:nvPr/>
        </p:nvSpPr>
        <p:spPr>
          <a:xfrm>
            <a:off x="6446520" y="5559552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B21"/>
                </a:solidFill>
                <a:latin typeface="Calibri"/>
              </a:rPr>
              <a:t>→  Loaded once at server startup — no reload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A884"/>
                </a:solidFill>
                <a:latin typeface="Calibri"/>
              </a:rPr>
              <a:t>Hybrid Retrieval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88952" cy="25400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972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67781"/>
                </a:solidFill>
                <a:latin typeface="Calibri"/>
              </a:rPr>
              <a:t>Combining keyword search + semantic search + neural reranking for the best possible chunks.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828800"/>
            <a:ext cx="1463040" cy="1188720"/>
          </a:xfrm>
          <a:prstGeom prst="rect">
            <a:avLst/>
          </a:prstGeom>
          <a:solidFill>
            <a:srgbClr val="111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a:spPr>
          <a:prstGeom prst="roundRect">
            <a:avLst>
              <a:gd name="adj" fmla="val 15000"/>
            </a:avLst>
          </a:prstGeom>
        </a:spPr>
      </p:sp>
      <p:sp>
        <p:nvSpPr>
          <p:cNvPr id="9" name="TextBox 8"/>
          <p:cNvSpPr txBox="1"/>
          <p:nvPr/>
        </p:nvSpPr>
        <p:spPr>
          <a:xfrm>
            <a:off x="320040" y="201168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User
Query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20240" y="1554480"/>
            <a:ext cx="2560320" cy="1097280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a:spPr>
          <a:prstGeom prst="roundRect">
            <a:avLst>
              <a:gd name="adj" fmla="val 15000"/>
            </a:avLst>
          </a:prstGeom>
        </a:spPr>
      </p:sp>
      <p:sp>
        <p:nvSpPr>
          <p:cNvPr id="11" name="TextBox 10"/>
          <p:cNvSpPr txBox="1"/>
          <p:nvPr/>
        </p:nvSpPr>
        <p:spPr>
          <a:xfrm>
            <a:off x="2011680" y="162763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BM25
Sparse 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208483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Keyword match → 8 chunks
Weight: 0.4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20240" y="2926080"/>
            <a:ext cx="2560320" cy="1097280"/>
          </a:xfrm>
          <a:prstGeom prst="rect">
            <a:avLst/>
          </a:prstGeom>
          <a:solidFill>
            <a:srgbClr val="008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a:spPr>
          <a:prstGeom prst="roundRect">
            <a:avLst>
              <a:gd name="adj" fmla="val 15000"/>
            </a:avLst>
          </a:prstGeom>
        </a:spPr>
      </p:sp>
      <p:sp>
        <p:nvSpPr>
          <p:cNvPr id="14" name="TextBox 13"/>
          <p:cNvSpPr txBox="1"/>
          <p:nvPr/>
        </p:nvSpPr>
        <p:spPr>
          <a:xfrm>
            <a:off x="2011680" y="299923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Dense Vector
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345643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Semantic vectors → 8 chunks
Weight: 0.6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55648" y="2468880"/>
            <a:ext cx="25400" cy="502920"/>
          </a:xfrm>
          <a:prstGeom prst="rect">
            <a:avLst/>
          </a:prstGeom>
          <a:solidFill>
            <a:srgbClr val="6677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54880" y="2103120"/>
            <a:ext cx="2560320" cy="1097280"/>
          </a:xfrm>
          <a:prstGeom prst="rect">
            <a:avLst/>
          </a:prstGeom>
          <a:solidFill>
            <a:srgbClr val="554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a:spPr>
          <a:prstGeom prst="roundRect">
            <a:avLst>
              <a:gd name="adj" fmla="val 15000"/>
            </a:avLst>
          </a:prstGeom>
        </a:spPr>
      </p:sp>
      <p:sp>
        <p:nvSpPr>
          <p:cNvPr id="18" name="TextBox 17"/>
          <p:cNvSpPr txBox="1"/>
          <p:nvPr/>
        </p:nvSpPr>
        <p:spPr>
          <a:xfrm>
            <a:off x="4846320" y="217627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Ensemble
Retriever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263347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Merges both → 16 candidates
LangChain EnsembleRetriever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89520" y="2103120"/>
            <a:ext cx="2560320" cy="1097280"/>
          </a:xfrm>
          <a:prstGeom prst="rect">
            <a:avLst/>
          </a:prstGeom>
          <a:solidFill>
            <a:srgbClr val="BB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a:spPr>
          <a:prstGeom prst="roundRect">
            <a:avLst>
              <a:gd name="adj" fmla="val 15000"/>
            </a:avLst>
          </a:prstGeom>
        </a:spPr>
      </p:sp>
      <p:sp>
        <p:nvSpPr>
          <p:cNvPr id="21" name="TextBox 20"/>
          <p:cNvSpPr txBox="1"/>
          <p:nvPr/>
        </p:nvSpPr>
        <p:spPr>
          <a:xfrm>
            <a:off x="7680960" y="217627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Cohere Rerank v3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2523744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Neural cross-encoder → Top 4
Deepest relevance scoring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378440" y="2103120"/>
            <a:ext cx="1508760" cy="1097280"/>
          </a:xfrm>
          <a:prstGeom prst="rect">
            <a:avLst/>
          </a:prstGeom>
          <a:solidFill>
            <a:srgbClr val="B5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a:spPr>
          <a:prstGeom prst="roundRect">
            <a:avLst>
              <a:gd name="adj" fmla="val 15000"/>
            </a:avLst>
          </a:prstGeom>
        </a:spPr>
      </p:sp>
      <p:sp>
        <p:nvSpPr>
          <p:cNvPr id="24" name="TextBox 23"/>
          <p:cNvSpPr txBox="1"/>
          <p:nvPr/>
        </p:nvSpPr>
        <p:spPr>
          <a:xfrm>
            <a:off x="10424160" y="2286000"/>
            <a:ext cx="1417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Top 4
Chunks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737360" y="2578608"/>
            <a:ext cx="182880" cy="38100"/>
          </a:xfrm>
          <a:prstGeom prst="rect">
            <a:avLst/>
          </a:prstGeom>
          <a:solidFill>
            <a:srgbClr val="7EB5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0" y="2578608"/>
            <a:ext cx="182880" cy="38100"/>
          </a:xfrm>
          <a:prstGeom prst="rect">
            <a:avLst/>
          </a:prstGeom>
          <a:solidFill>
            <a:srgbClr val="7EB5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0" y="2578608"/>
            <a:ext cx="182880" cy="38100"/>
          </a:xfrm>
          <a:prstGeom prst="rect">
            <a:avLst/>
          </a:prstGeom>
          <a:solidFill>
            <a:srgbClr val="7EB5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149840" y="2578608"/>
            <a:ext cx="182880" cy="38100"/>
          </a:xfrm>
          <a:prstGeom prst="rect">
            <a:avLst/>
          </a:prstGeom>
          <a:solidFill>
            <a:srgbClr val="7EB5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43891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A884"/>
                </a:solidFill>
                <a:latin typeface="Calibri"/>
              </a:rPr>
              <a:t>Why Hybrid?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4800600"/>
            <a:ext cx="274320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9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a:spPr>
          <a:prstGeom prst="roundRect">
            <a:avLst>
              <a:gd name="adj" fmla="val 15000"/>
            </a:avLst>
          </a:prstGeom>
        </a:spPr>
      </p:sp>
      <p:sp>
        <p:nvSpPr>
          <p:cNvPr id="31" name="TextBox 30"/>
          <p:cNvSpPr txBox="1"/>
          <p:nvPr/>
        </p:nvSpPr>
        <p:spPr>
          <a:xfrm>
            <a:off x="411480" y="4892040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67781"/>
                </a:solidFill>
                <a:latin typeface="Calibri"/>
              </a:rPr>
              <a:t>BM25 alone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5230368"/>
            <a:ext cx="2514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B21"/>
                </a:solidFill>
                <a:latin typeface="Calibri"/>
              </a:rPr>
              <a:t>Misses synonyms &amp; paraphrases. 'conflict' ≠ 'disagreement'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46120" y="4800600"/>
            <a:ext cx="274320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9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a:spPr>
          <a:prstGeom prst="roundRect">
            <a:avLst>
              <a:gd name="adj" fmla="val 15000"/>
            </a:avLst>
          </a:prstGeom>
        </a:spPr>
      </p:sp>
      <p:sp>
        <p:nvSpPr>
          <p:cNvPr id="34" name="TextBox 33"/>
          <p:cNvSpPr txBox="1"/>
          <p:nvPr/>
        </p:nvSpPr>
        <p:spPr>
          <a:xfrm>
            <a:off x="3383280" y="4892040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67781"/>
                </a:solidFill>
                <a:latin typeface="Calibri"/>
              </a:rPr>
              <a:t>Dense alone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83280" y="5230368"/>
            <a:ext cx="2514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B21"/>
                </a:solidFill>
                <a:latin typeface="Calibri"/>
              </a:rPr>
              <a:t>Can miss exact terminology and proper names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4800600"/>
            <a:ext cx="274320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9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a:spPr>
          <a:prstGeom prst="roundRect">
            <a:avLst>
              <a:gd name="adj" fmla="val 15000"/>
            </a:avLst>
          </a:prstGeom>
        </a:spPr>
      </p:sp>
      <p:sp>
        <p:nvSpPr>
          <p:cNvPr id="37" name="TextBox 36"/>
          <p:cNvSpPr txBox="1"/>
          <p:nvPr/>
        </p:nvSpPr>
        <p:spPr>
          <a:xfrm>
            <a:off x="6355080" y="4892040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67781"/>
                </a:solidFill>
                <a:latin typeface="Calibri"/>
              </a:rPr>
              <a:t>Cohere alone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5080" y="5230368"/>
            <a:ext cx="2514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B21"/>
                </a:solidFill>
                <a:latin typeface="Calibri"/>
              </a:rPr>
              <a:t>Too slow to run on all 5,640 chunks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89720" y="4800600"/>
            <a:ext cx="2743200" cy="1737360"/>
          </a:xfrm>
          <a:prstGeom prst="rect">
            <a:avLst/>
          </a:prstGeom>
          <a:solidFill>
            <a:srgbClr val="D9FDD3"/>
          </a:solidFill>
          <a:ln w="6350">
            <a:solidFill>
              <a:srgbClr val="E9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a:spPr>
          <a:prstGeom prst="roundRect">
            <a:avLst>
              <a:gd name="adj" fmla="val 15000"/>
            </a:avLst>
          </a:prstGeom>
        </a:spPr>
      </p:sp>
      <p:sp>
        <p:nvSpPr>
          <p:cNvPr id="40" name="TextBox 39"/>
          <p:cNvSpPr txBox="1"/>
          <p:nvPr/>
        </p:nvSpPr>
        <p:spPr>
          <a:xfrm>
            <a:off x="9326880" y="4892040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A884"/>
                </a:solidFill>
                <a:latin typeface="Calibri"/>
              </a:rPr>
              <a:t>All together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0" y="5230368"/>
            <a:ext cx="2514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B21"/>
                </a:solidFill>
                <a:latin typeface="Calibri"/>
              </a:rPr>
              <a:t>Best accuracy: keyword precision + semantic recall + neural quality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A884"/>
                </a:solidFill>
                <a:latin typeface="Calibri"/>
              </a:rPr>
              <a:t>Knowledge Base — Chunks &amp; Books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88952" cy="25400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972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67781"/>
                </a:solidFill>
                <a:latin typeface="Calibri"/>
              </a:rPr>
              <a:t>7 psychology books split into 5,640 focused chunks, each stored with metadata.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600200"/>
            <a:ext cx="2788920" cy="960120"/>
          </a:xfrm>
          <a:prstGeom prst="rect">
            <a:avLst/>
          </a:prstGeom>
          <a:solidFill>
            <a:srgbClr val="437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a:spPr>
          <a:prstGeom prst="roundRect">
            <a:avLst>
              <a:gd name="adj" fmla="val 20000"/>
            </a:avLst>
          </a:prstGeom>
        </a:spPr>
      </p:sp>
      <p:sp>
        <p:nvSpPr>
          <p:cNvPr id="9" name="TextBox 8"/>
          <p:cNvSpPr txBox="1"/>
          <p:nvPr/>
        </p:nvSpPr>
        <p:spPr>
          <a:xfrm>
            <a:off x="411480" y="169164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Crucial Conversations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148840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~900 chunks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600200"/>
            <a:ext cx="2788920" cy="960120"/>
          </a:xfrm>
          <a:prstGeom prst="rect">
            <a:avLst/>
          </a:prstGeom>
          <a:solidFill>
            <a:srgbClr val="7B3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a:spPr>
          <a:prstGeom prst="roundRect">
            <a:avLst>
              <a:gd name="adj" fmla="val 20000"/>
            </a:avLst>
          </a:prstGeom>
        </a:spPr>
      </p:sp>
      <p:sp>
        <p:nvSpPr>
          <p:cNvPr id="12" name="TextBox 11"/>
          <p:cNvSpPr txBox="1"/>
          <p:nvPr/>
        </p:nvSpPr>
        <p:spPr>
          <a:xfrm>
            <a:off x="3383280" y="169164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The 7 Habits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148840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~850 chunks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600200"/>
            <a:ext cx="2788920" cy="960120"/>
          </a:xfrm>
          <a:prstGeom prst="rect">
            <a:avLst/>
          </a:prstGeom>
          <a:solidFill>
            <a:srgbClr val="E5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a:spPr>
          <a:prstGeom prst="roundRect">
            <a:avLst>
              <a:gd name="adj" fmla="val 20000"/>
            </a:avLst>
          </a:prstGeom>
        </a:spPr>
      </p:sp>
      <p:sp>
        <p:nvSpPr>
          <p:cNvPr id="15" name="TextBox 14"/>
          <p:cNvSpPr txBox="1"/>
          <p:nvPr/>
        </p:nvSpPr>
        <p:spPr>
          <a:xfrm>
            <a:off x="6355080" y="169164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Never Split the Difference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148840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~750 chunks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89720" y="1600200"/>
            <a:ext cx="2788920" cy="960120"/>
          </a:xfrm>
          <a:prstGeom prst="rect">
            <a:avLst/>
          </a:prstGeom>
          <a:solidFill>
            <a:srgbClr val="CC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a:spPr>
          <a:prstGeom prst="roundRect">
            <a:avLst>
              <a:gd name="adj" fmla="val 20000"/>
            </a:avLst>
          </a:prstGeom>
        </a:spPr>
      </p:sp>
      <p:sp>
        <p:nvSpPr>
          <p:cNvPr id="18" name="TextBox 17"/>
          <p:cNvSpPr txBox="1"/>
          <p:nvPr/>
        </p:nvSpPr>
        <p:spPr>
          <a:xfrm>
            <a:off x="9326880" y="169164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Attached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148840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~780 chunks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788920"/>
            <a:ext cx="2788920" cy="960120"/>
          </a:xfrm>
          <a:prstGeom prst="rect">
            <a:avLst/>
          </a:prstGeom>
          <a:solidFill>
            <a:srgbClr val="008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a:spPr>
          <a:prstGeom prst="roundRect">
            <a:avLst>
              <a:gd name="adj" fmla="val 20000"/>
            </a:avLst>
          </a:prstGeom>
        </a:spPr>
      </p:sp>
      <p:sp>
        <p:nvSpPr>
          <p:cNvPr id="21" name="TextBox 20"/>
          <p:cNvSpPr txBox="1"/>
          <p:nvPr/>
        </p:nvSpPr>
        <p:spPr>
          <a:xfrm>
            <a:off x="411480" y="288036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Nonviolent Communication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3337560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~650 chunks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46120" y="2788920"/>
            <a:ext cx="2788920" cy="960120"/>
          </a:xfrm>
          <a:prstGeom prst="rect">
            <a:avLst/>
          </a:prstGeom>
          <a:solidFill>
            <a:srgbClr val="008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a:spPr>
          <a:prstGeom prst="roundRect">
            <a:avLst>
              <a:gd name="adj" fmla="val 20000"/>
            </a:avLst>
          </a:prstGeom>
        </a:spPr>
      </p:sp>
      <p:sp>
        <p:nvSpPr>
          <p:cNvPr id="24" name="TextBox 23"/>
          <p:cNvSpPr txBox="1"/>
          <p:nvPr/>
        </p:nvSpPr>
        <p:spPr>
          <a:xfrm>
            <a:off x="3383280" y="288036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Radical Acceptance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0" y="3337560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~720 chunks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2788920"/>
            <a:ext cx="2788920" cy="960120"/>
          </a:xfrm>
          <a:prstGeom prst="rect">
            <a:avLst/>
          </a:prstGeom>
          <a:solidFill>
            <a:srgbClr val="B5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a:spPr>
          <a:prstGeom prst="roundRect">
            <a:avLst>
              <a:gd name="adj" fmla="val 20000"/>
            </a:avLst>
          </a:prstGeom>
        </a:spPr>
      </p:sp>
      <p:sp>
        <p:nvSpPr>
          <p:cNvPr id="27" name="TextBox 26"/>
          <p:cNvSpPr txBox="1"/>
          <p:nvPr/>
        </p:nvSpPr>
        <p:spPr>
          <a:xfrm>
            <a:off x="6355080" y="288036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The Like Switch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337560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~690 chunks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4114800"/>
            <a:ext cx="1161288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9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a:spPr>
          <a:prstGeom prst="roundRect">
            <a:avLst>
              <a:gd name="adj" fmla="val 15000"/>
            </a:avLst>
          </a:prstGeom>
        </a:spPr>
      </p:sp>
      <p:sp>
        <p:nvSpPr>
          <p:cNvPr id="30" name="TextBox 29"/>
          <p:cNvSpPr txBox="1"/>
          <p:nvPr/>
        </p:nvSpPr>
        <p:spPr>
          <a:xfrm>
            <a:off x="457200" y="42062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A884"/>
                </a:solidFill>
                <a:latin typeface="Calibri"/>
              </a:rPr>
              <a:t>How Chunking Works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663440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B21"/>
                </a:solidFill>
                <a:latin typeface="Calibri"/>
              </a:rPr>
              <a:t>•  chunk_size = 800 tokens (~600 words) — focused enough for precise embeddings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093207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B21"/>
                </a:solidFill>
                <a:latin typeface="Calibri"/>
              </a:rPr>
              <a:t>•  chunk_overlap = 120 tokens — ensures sentences at boundaries aren't lost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522975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B21"/>
                </a:solidFill>
                <a:latin typeface="Calibri"/>
              </a:rPr>
              <a:t>•  Each chunk stores: text + source book name + page number (shown in citations)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952744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B21"/>
                </a:solidFill>
                <a:latin typeface="Calibri"/>
              </a:rPr>
              <a:t>•  RecursiveCharacterTextSplitter (LangChain) splits on paragraphs, then sentences, then words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A884"/>
                </a:solidFill>
                <a:latin typeface="Calibri"/>
              </a:rPr>
              <a:t>Full Request — Step by Step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88952" cy="25400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972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67781"/>
                </a:solidFill>
                <a:latin typeface="Calibri"/>
              </a:rPr>
              <a:t>Example: "My manager never listens to me in meetings"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600200"/>
            <a:ext cx="2286000" cy="658368"/>
          </a:xfrm>
          <a:prstGeom prst="rect">
            <a:avLst/>
          </a:prstGeom>
          <a:solidFill>
            <a:srgbClr val="6B6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a:spPr>
          <a:prstGeom prst="roundRect">
            <a:avLst>
              <a:gd name="adj" fmla="val 15000"/>
            </a:avLst>
          </a:prstGeom>
        </a:spPr>
      </p:sp>
      <p:sp>
        <p:nvSpPr>
          <p:cNvPr id="9" name="TextBox 8"/>
          <p:cNvSpPr txBox="1"/>
          <p:nvPr/>
        </p:nvSpPr>
        <p:spPr>
          <a:xfrm>
            <a:off x="384048" y="1728216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1  Classifier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88920" y="1691640"/>
            <a:ext cx="3931920" cy="475488"/>
          </a:xfrm>
          <a:prstGeom prst="rect">
            <a:avLst/>
          </a:prstGeom>
          <a:solidFill>
            <a:srgbClr val="F8F9FA"/>
          </a:solidFill>
          <a:ln w="6350">
            <a:solidFill>
              <a:srgbClr val="E9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a:spPr>
          <a:prstGeom prst="roundRect">
            <a:avLst>
              <a:gd name="adj" fmla="val 10000"/>
            </a:avLst>
          </a:prstGeom>
        </a:spPr>
      </p:sp>
      <p:sp>
        <p:nvSpPr>
          <p:cNvPr id="11" name="TextBox 10"/>
          <p:cNvSpPr txBox="1"/>
          <p:nvPr/>
        </p:nvSpPr>
        <p:spPr>
          <a:xfrm>
            <a:off x="2907792" y="1764792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7781"/>
                </a:solidFill>
                <a:latin typeface="Calibri"/>
              </a:rPr>
              <a:t>Groq LLM call #1 (temp=0)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49440" y="1691640"/>
            <a:ext cx="5029200" cy="475488"/>
          </a:xfrm>
          <a:prstGeom prst="rect">
            <a:avLst/>
          </a:prstGeom>
          <a:solidFill>
            <a:srgbClr val="D9FDD3"/>
          </a:solidFill>
          <a:ln w="6350">
            <a:solidFill>
              <a:srgbClr val="00A8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a:spPr>
          <a:prstGeom prst="roundRect">
            <a:avLst>
              <a:gd name="adj" fmla="val 10000"/>
            </a:avLst>
          </a:prstGeom>
        </a:spPr>
      </p:sp>
      <p:sp>
        <p:nvSpPr>
          <p:cNvPr id="13" name="TextBox 12"/>
          <p:cNvSpPr txBox="1"/>
          <p:nvPr/>
        </p:nvSpPr>
        <p:spPr>
          <a:xfrm>
            <a:off x="7059168" y="1764792"/>
            <a:ext cx="4800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11B21"/>
                </a:solidFill>
                <a:latin typeface="Calibri"/>
              </a:rPr>
              <a:t>situation_type = manager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0" y="2258568"/>
            <a:ext cx="25400" cy="182880"/>
          </a:xfrm>
          <a:prstGeom prst="rect">
            <a:avLst/>
          </a:prstGeom>
          <a:solidFill>
            <a:srgbClr val="7EB5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2441448"/>
            <a:ext cx="2286000" cy="658368"/>
          </a:xfrm>
          <a:prstGeom prst="rect">
            <a:avLst/>
          </a:prstGeom>
          <a:solidFill>
            <a:srgbClr val="008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a:spPr>
          <a:prstGeom prst="roundRect">
            <a:avLst>
              <a:gd name="adj" fmla="val 15000"/>
            </a:avLst>
          </a:prstGeom>
        </a:spPr>
      </p:sp>
      <p:sp>
        <p:nvSpPr>
          <p:cNvPr id="16" name="TextBox 15"/>
          <p:cNvSpPr txBox="1"/>
          <p:nvPr/>
        </p:nvSpPr>
        <p:spPr>
          <a:xfrm>
            <a:off x="384048" y="2569464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2  Retriever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88920" y="2532888"/>
            <a:ext cx="3931920" cy="475488"/>
          </a:xfrm>
          <a:prstGeom prst="rect">
            <a:avLst/>
          </a:prstGeom>
          <a:solidFill>
            <a:srgbClr val="F8F9FA"/>
          </a:solidFill>
          <a:ln w="6350">
            <a:solidFill>
              <a:srgbClr val="E9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a:spPr>
          <a:prstGeom prst="roundRect">
            <a:avLst>
              <a:gd name="adj" fmla="val 10000"/>
            </a:avLst>
          </a:prstGeom>
        </a:spPr>
      </p:sp>
      <p:sp>
        <p:nvSpPr>
          <p:cNvPr id="18" name="TextBox 17"/>
          <p:cNvSpPr txBox="1"/>
          <p:nvPr/>
        </p:nvSpPr>
        <p:spPr>
          <a:xfrm>
            <a:off x="2907792" y="2606040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7781"/>
                </a:solidFill>
                <a:latin typeface="Calibri"/>
              </a:rPr>
              <a:t>BM25+Dense→16, Cohere→4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49440" y="2532888"/>
            <a:ext cx="5029200" cy="475488"/>
          </a:xfrm>
          <a:prstGeom prst="rect">
            <a:avLst/>
          </a:prstGeom>
          <a:solidFill>
            <a:srgbClr val="D9FDD3"/>
          </a:solidFill>
          <a:ln w="6350">
            <a:solidFill>
              <a:srgbClr val="00A8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a:spPr>
          <a:prstGeom prst="roundRect">
            <a:avLst>
              <a:gd name="adj" fmla="val 10000"/>
            </a:avLst>
          </a:prstGeom>
        </a:spPr>
      </p:sp>
      <p:sp>
        <p:nvSpPr>
          <p:cNvPr id="20" name="TextBox 19"/>
          <p:cNvSpPr txBox="1"/>
          <p:nvPr/>
        </p:nvSpPr>
        <p:spPr>
          <a:xfrm>
            <a:off x="7059168" y="2606040"/>
            <a:ext cx="4800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11B21"/>
                </a:solidFill>
                <a:latin typeface="Calibri"/>
              </a:rPr>
              <a:t>4 chunks from Crucial Conversations + 7 Habits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3099816"/>
            <a:ext cx="25400" cy="182880"/>
          </a:xfrm>
          <a:prstGeom prst="rect">
            <a:avLst/>
          </a:prstGeom>
          <a:solidFill>
            <a:srgbClr val="7EB5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3282696"/>
            <a:ext cx="2286000" cy="658368"/>
          </a:xfrm>
          <a:prstGeom prst="rect">
            <a:avLst/>
          </a:prstGeom>
          <a:solidFill>
            <a:srgbClr val="B5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a:spPr>
          <a:prstGeom prst="roundRect">
            <a:avLst>
              <a:gd name="adj" fmla="val 15000"/>
            </a:avLst>
          </a:prstGeom>
        </a:spPr>
      </p:sp>
      <p:sp>
        <p:nvSpPr>
          <p:cNvPr id="23" name="TextBox 22"/>
          <p:cNvSpPr txBox="1"/>
          <p:nvPr/>
        </p:nvSpPr>
        <p:spPr>
          <a:xfrm>
            <a:off x="384048" y="3410712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3  Evaluator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88920" y="3374136"/>
            <a:ext cx="3931920" cy="475488"/>
          </a:xfrm>
          <a:prstGeom prst="rect">
            <a:avLst/>
          </a:prstGeom>
          <a:solidFill>
            <a:srgbClr val="F8F9FA"/>
          </a:solidFill>
          <a:ln w="6350">
            <a:solidFill>
              <a:srgbClr val="E9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a:spPr>
          <a:prstGeom prst="roundRect">
            <a:avLst>
              <a:gd name="adj" fmla="val 10000"/>
            </a:avLst>
          </a:prstGeom>
        </a:spPr>
      </p:sp>
      <p:sp>
        <p:nvSpPr>
          <p:cNvPr id="25" name="TextBox 24"/>
          <p:cNvSpPr txBox="1"/>
          <p:nvPr/>
        </p:nvSpPr>
        <p:spPr>
          <a:xfrm>
            <a:off x="2907792" y="3447288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7781"/>
                </a:solidFill>
                <a:latin typeface="Calibri"/>
              </a:rPr>
              <a:t>Groq LLM call #2 (temp=0)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49440" y="3374136"/>
            <a:ext cx="5029200" cy="475488"/>
          </a:xfrm>
          <a:prstGeom prst="rect">
            <a:avLst/>
          </a:prstGeom>
          <a:solidFill>
            <a:srgbClr val="D9FDD3"/>
          </a:solidFill>
          <a:ln w="6350">
            <a:solidFill>
              <a:srgbClr val="00A8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a:spPr>
          <a:prstGeom prst="roundRect">
            <a:avLst>
              <a:gd name="adj" fmla="val 10000"/>
            </a:avLst>
          </a:prstGeom>
        </a:spPr>
      </p:sp>
      <p:sp>
        <p:nvSpPr>
          <p:cNvPr id="27" name="TextBox 26"/>
          <p:cNvSpPr txBox="1"/>
          <p:nvPr/>
        </p:nvSpPr>
        <p:spPr>
          <a:xfrm>
            <a:off x="7059168" y="3447288"/>
            <a:ext cx="4800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11B21"/>
                </a:solidFill>
                <a:latin typeface="Calibri"/>
              </a:rPr>
              <a:t>SUFFICIENT — actionable frameworks found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371600" y="3941064"/>
            <a:ext cx="25400" cy="182880"/>
          </a:xfrm>
          <a:prstGeom prst="rect">
            <a:avLst/>
          </a:prstGeom>
          <a:solidFill>
            <a:srgbClr val="7EB5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74320" y="4123944"/>
            <a:ext cx="2286000" cy="658368"/>
          </a:xfrm>
          <a:prstGeom prst="rect">
            <a:avLst/>
          </a:prstGeom>
          <a:solidFill>
            <a:srgbClr val="7B3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a:spPr>
          <a:prstGeom prst="roundRect">
            <a:avLst>
              <a:gd name="adj" fmla="val 15000"/>
            </a:avLst>
          </a:prstGeom>
        </a:spPr>
      </p:sp>
      <p:sp>
        <p:nvSpPr>
          <p:cNvPr id="30" name="TextBox 29"/>
          <p:cNvSpPr txBox="1"/>
          <p:nvPr/>
        </p:nvSpPr>
        <p:spPr>
          <a:xfrm>
            <a:off x="384048" y="42519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4  Psychologist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88920" y="4215384"/>
            <a:ext cx="3931920" cy="475488"/>
          </a:xfrm>
          <a:prstGeom prst="rect">
            <a:avLst/>
          </a:prstGeom>
          <a:solidFill>
            <a:srgbClr val="F8F9FA"/>
          </a:solidFill>
          <a:ln w="6350">
            <a:solidFill>
              <a:srgbClr val="E9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a:spPr>
          <a:prstGeom prst="roundRect">
            <a:avLst>
              <a:gd name="adj" fmla="val 10000"/>
            </a:avLst>
          </a:prstGeom>
        </a:spPr>
      </p:sp>
      <p:sp>
        <p:nvSpPr>
          <p:cNvPr id="32" name="TextBox 31"/>
          <p:cNvSpPr txBox="1"/>
          <p:nvPr/>
        </p:nvSpPr>
        <p:spPr>
          <a:xfrm>
            <a:off x="2907792" y="4288536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7781"/>
                </a:solidFill>
                <a:latin typeface="Calibri"/>
              </a:rPr>
              <a:t>Groq LLM call #3 (temp=0.7)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49440" y="4215384"/>
            <a:ext cx="5029200" cy="475488"/>
          </a:xfrm>
          <a:prstGeom prst="rect">
            <a:avLst/>
          </a:prstGeom>
          <a:solidFill>
            <a:srgbClr val="D9FDD3"/>
          </a:solidFill>
          <a:ln w="6350">
            <a:solidFill>
              <a:srgbClr val="00A8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a:spPr>
          <a:prstGeom prst="roundRect">
            <a:avLst>
              <a:gd name="adj" fmla="val 10000"/>
            </a:avLst>
          </a:prstGeom>
        </a:spPr>
      </p:sp>
      <p:sp>
        <p:nvSpPr>
          <p:cNvPr id="34" name="TextBox 33"/>
          <p:cNvSpPr txBox="1"/>
          <p:nvPr/>
        </p:nvSpPr>
        <p:spPr>
          <a:xfrm>
            <a:off x="7059168" y="4288536"/>
            <a:ext cx="4800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11B21"/>
                </a:solidFill>
                <a:latin typeface="Calibri"/>
              </a:rPr>
              <a:t>Warm response with book citations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371600" y="4782312"/>
            <a:ext cx="25400" cy="182880"/>
          </a:xfrm>
          <a:prstGeom prst="rect">
            <a:avLst/>
          </a:prstGeom>
          <a:solidFill>
            <a:srgbClr val="7EB5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74320" y="4965192"/>
            <a:ext cx="2286000" cy="658368"/>
          </a:xfrm>
          <a:prstGeom prst="rect">
            <a:avLst/>
          </a:prstGeom>
          <a:solidFill>
            <a:srgbClr val="C04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a:spPr>
          <a:prstGeom prst="roundRect">
            <a:avLst>
              <a:gd name="adj" fmla="val 15000"/>
            </a:avLst>
          </a:prstGeom>
        </a:spPr>
      </p:sp>
      <p:sp>
        <p:nvSpPr>
          <p:cNvPr id="37" name="TextBox 36"/>
          <p:cNvSpPr txBox="1"/>
          <p:nvPr/>
        </p:nvSpPr>
        <p:spPr>
          <a:xfrm>
            <a:off x="384048" y="509320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5  Action Planner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88920" y="5056632"/>
            <a:ext cx="3931920" cy="475488"/>
          </a:xfrm>
          <a:prstGeom prst="rect">
            <a:avLst/>
          </a:prstGeom>
          <a:solidFill>
            <a:srgbClr val="F8F9FA"/>
          </a:solidFill>
          <a:ln w="6350">
            <a:solidFill>
              <a:srgbClr val="E9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a:spPr>
          <a:prstGeom prst="roundRect">
            <a:avLst>
              <a:gd name="adj" fmla="val 10000"/>
            </a:avLst>
          </a:prstGeom>
        </a:spPr>
      </p:sp>
      <p:sp>
        <p:nvSpPr>
          <p:cNvPr id="39" name="TextBox 38"/>
          <p:cNvSpPr txBox="1"/>
          <p:nvPr/>
        </p:nvSpPr>
        <p:spPr>
          <a:xfrm>
            <a:off x="2907792" y="5129784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7781"/>
                </a:solidFill>
                <a:latin typeface="Calibri"/>
              </a:rPr>
              <a:t>Groq LLM call #4 + Pydantic parser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49440" y="5056632"/>
            <a:ext cx="5029200" cy="475488"/>
          </a:xfrm>
          <a:prstGeom prst="rect">
            <a:avLst/>
          </a:prstGeom>
          <a:solidFill>
            <a:srgbClr val="D9FDD3"/>
          </a:solidFill>
          <a:ln w="6350">
            <a:solidFill>
              <a:srgbClr val="00A8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a:spPr>
          <a:prstGeom prst="roundRect">
            <a:avLst>
              <a:gd name="adj" fmla="val 10000"/>
            </a:avLst>
          </a:prstGeom>
        </a:spPr>
      </p:sp>
      <p:sp>
        <p:nvSpPr>
          <p:cNvPr id="41" name="TextBox 40"/>
          <p:cNvSpPr txBox="1"/>
          <p:nvPr/>
        </p:nvSpPr>
        <p:spPr>
          <a:xfrm>
            <a:off x="7059168" y="5129784"/>
            <a:ext cx="4800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11B21"/>
                </a:solidFill>
                <a:latin typeface="Calibri"/>
              </a:rPr>
              <a:t>3 concrete steps + framework + time horizon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371600" y="5623560"/>
            <a:ext cx="25400" cy="182880"/>
          </a:xfrm>
          <a:prstGeom prst="rect">
            <a:avLst/>
          </a:prstGeom>
          <a:solidFill>
            <a:srgbClr val="7EB5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74320" y="5806440"/>
            <a:ext cx="2286000" cy="658368"/>
          </a:xfrm>
          <a:prstGeom prst="rect">
            <a:avLst/>
          </a:prstGeom>
          <a:solidFill>
            <a:srgbClr val="008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a:spPr>
          <a:prstGeom prst="roundRect">
            <a:avLst>
              <a:gd name="adj" fmla="val 15000"/>
            </a:avLst>
          </a:prstGeom>
        </a:spPr>
      </p:sp>
      <p:sp>
        <p:nvSpPr>
          <p:cNvPr id="44" name="TextBox 43"/>
          <p:cNvSpPr txBox="1"/>
          <p:nvPr/>
        </p:nvSpPr>
        <p:spPr>
          <a:xfrm>
            <a:off x="384048" y="5934456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6  Follow-up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88920" y="5897880"/>
            <a:ext cx="3931920" cy="475488"/>
          </a:xfrm>
          <a:prstGeom prst="rect">
            <a:avLst/>
          </a:prstGeom>
          <a:solidFill>
            <a:srgbClr val="F8F9FA"/>
          </a:solidFill>
          <a:ln w="6350">
            <a:solidFill>
              <a:srgbClr val="E9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a:spPr>
          <a:prstGeom prst="roundRect">
            <a:avLst>
              <a:gd name="adj" fmla="val 10000"/>
            </a:avLst>
          </a:prstGeom>
        </a:spPr>
      </p:sp>
      <p:sp>
        <p:nvSpPr>
          <p:cNvPr id="46" name="TextBox 45"/>
          <p:cNvSpPr txBox="1"/>
          <p:nvPr/>
        </p:nvSpPr>
        <p:spPr>
          <a:xfrm>
            <a:off x="2907792" y="5971032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7781"/>
                </a:solidFill>
                <a:latin typeface="Calibri"/>
              </a:rPr>
              <a:t>Groq LLM call #5 (temp=0.6)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949440" y="5897880"/>
            <a:ext cx="5029200" cy="475488"/>
          </a:xfrm>
          <a:prstGeom prst="rect">
            <a:avLst/>
          </a:prstGeom>
          <a:solidFill>
            <a:srgbClr val="D9FDD3"/>
          </a:solidFill>
          <a:ln w="6350">
            <a:solidFill>
              <a:srgbClr val="00A8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a:spPr>
          <a:prstGeom prst="roundRect">
            <a:avLst>
              <a:gd name="adj" fmla="val 10000"/>
            </a:avLst>
          </a:prstGeom>
        </a:spPr>
      </p:sp>
      <p:sp>
        <p:nvSpPr>
          <p:cNvPr id="48" name="TextBox 47"/>
          <p:cNvSpPr txBox="1"/>
          <p:nvPr/>
        </p:nvSpPr>
        <p:spPr>
          <a:xfrm>
            <a:off x="7059168" y="5971032"/>
            <a:ext cx="4800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11B21"/>
                </a:solidFill>
                <a:latin typeface="Calibri"/>
              </a:rPr>
              <a:t>One targeted follow-up question appended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6537960"/>
            <a:ext cx="11612880" cy="182880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a:spPr>
          <a:prstGeom prst="roundRect">
            <a:avLst>
              <a:gd name="adj" fmla="val 10000"/>
            </a:avLst>
          </a:prstGeom>
        </a:spPr>
      </p:sp>
      <p:sp>
        <p:nvSpPr>
          <p:cNvPr id="50" name="TextBox 49"/>
          <p:cNvSpPr txBox="1"/>
          <p:nvPr/>
        </p:nvSpPr>
        <p:spPr>
          <a:xfrm>
            <a:off x="457200" y="6556248"/>
            <a:ext cx="11247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Total: 5 Groq LLM calls  ·  ~4-6 seconds end-to-end  ·  Fully streamed via SSE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914400" y="-914400"/>
            <a:ext cx="4572000" cy="4572000"/>
          </a:xfrm>
          <a:prstGeom prst="rect">
            <a:avLst/>
          </a:prstGeom>
          <a:solidFill>
            <a:srgbClr val="0D4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03920" y="4114800"/>
            <a:ext cx="4572000" cy="4572000"/>
          </a:xfrm>
          <a:prstGeom prst="rect">
            <a:avLst/>
          </a:prstGeom>
          <a:solidFill>
            <a:srgbClr val="082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EB58D"/>
                </a:solidFill>
                <a:latin typeface="Calibri"/>
              </a:rPr>
              <a:t>Built with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5D366"/>
                </a:solidFill>
                <a:latin typeface="Calibri"/>
              </a:rPr>
              <a:t>LangGraph · LangChain · Groq · ChromaDB · Cohere · React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2834640"/>
            <a:ext cx="6400800" cy="12700"/>
          </a:xfrm>
          <a:prstGeom prst="rect">
            <a:avLst/>
          </a:prstGeom>
          <a:solidFill>
            <a:srgbClr val="1A3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3154680"/>
            <a:ext cx="7589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✓  Agentic RAG — evaluates and retries retrieval automatically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3730752"/>
            <a:ext cx="7589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✓  Hybrid search — BM25 + Dense + Cohere Rerank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4306824"/>
            <a:ext cx="7589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✓  LangGraph — stateful 8-node directed graph with conditional routing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4882896"/>
            <a:ext cx="7589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✓  5,640 chunks from 7 real psychology books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5458968"/>
            <a:ext cx="7589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✓  Groq LPU — full 5-node pipeline in ~4 seconds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612648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EB58D"/>
                </a:solidFill>
                <a:latin typeface="Calibri"/>
              </a:rPr>
              <a:t>PsycheNavigator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